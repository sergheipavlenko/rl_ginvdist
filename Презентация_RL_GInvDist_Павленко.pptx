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ru-RU" sz="1300" b="0" i="0" u="none" strike="noStrike">
                <a:solidFill>
                  <a:srgbClr val="1A2B4A"/>
                </a:solidFill>
                <a:latin typeface="Arial"/>
              </a:rPr>
              <a:t>Время вычисления базиса Грёбнера (сек)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cyclic_5</c:v>
                </c:pt>
                <c:pt idx="1">
                  <c:v>cyclic_6</c:v>
                </c:pt>
                <c:pt idx="2">
                  <c:v>eco_5</c:v>
                </c:pt>
                <c:pt idx="3">
                  <c:v>boon</c:v>
                </c:pt>
                <c:pt idx="4">
                  <c:v>butcher</c:v>
                </c:pt>
                <c:pt idx="5">
                  <c:v>chandra</c:v>
                </c:pt>
                <c:pt idx="6">
                  <c:v>assur44</c:v>
                </c:pt>
                <c:pt idx="7">
                  <c:v>osc_5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0.85</c:v>
                </c:pt>
                <c:pt idx="1">
                  <c:v>2.1</c:v>
                </c:pt>
                <c:pt idx="2">
                  <c:v>0.22</c:v>
                </c:pt>
                <c:pt idx="3">
                  <c:v>0.55000000000000004</c:v>
                </c:pt>
                <c:pt idx="4">
                  <c:v>1.45</c:v>
                </c:pt>
                <c:pt idx="5">
                  <c:v>3.2</c:v>
                </c:pt>
                <c:pt idx="6">
                  <c:v>0.95</c:v>
                </c:pt>
                <c:pt idx="7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A-4E33-8C3F-6B8F337660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GREVLEX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cyclic_5</c:v>
                </c:pt>
                <c:pt idx="1">
                  <c:v>cyclic_6</c:v>
                </c:pt>
                <c:pt idx="2">
                  <c:v>eco_5</c:v>
                </c:pt>
                <c:pt idx="3">
                  <c:v>boon</c:v>
                </c:pt>
                <c:pt idx="4">
                  <c:v>butcher</c:v>
                </c:pt>
                <c:pt idx="5">
                  <c:v>chandra</c:v>
                </c:pt>
                <c:pt idx="6">
                  <c:v>assur44</c:v>
                </c:pt>
                <c:pt idx="7">
                  <c:v>osc_5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0.42</c:v>
                </c:pt>
                <c:pt idx="1">
                  <c:v>1.1499999999999999</c:v>
                </c:pt>
                <c:pt idx="2">
                  <c:v>0.15</c:v>
                </c:pt>
                <c:pt idx="3">
                  <c:v>0.28000000000000003</c:v>
                </c:pt>
                <c:pt idx="4">
                  <c:v>0.75</c:v>
                </c:pt>
                <c:pt idx="5">
                  <c:v>1.85</c:v>
                </c:pt>
                <c:pt idx="6">
                  <c:v>0.48</c:v>
                </c:pt>
                <c:pt idx="7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4A-4E33-8C3F-6B8F337660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REVGREVLEX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cyclic_5</c:v>
                </c:pt>
                <c:pt idx="1">
                  <c:v>cyclic_6</c:v>
                </c:pt>
                <c:pt idx="2">
                  <c:v>eco_5</c:v>
                </c:pt>
                <c:pt idx="3">
                  <c:v>boon</c:v>
                </c:pt>
                <c:pt idx="4">
                  <c:v>butcher</c:v>
                </c:pt>
                <c:pt idx="5">
                  <c:v>chandra</c:v>
                </c:pt>
                <c:pt idx="6">
                  <c:v>assur44</c:v>
                </c:pt>
                <c:pt idx="7">
                  <c:v>osc_5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0.45</c:v>
                </c:pt>
                <c:pt idx="1">
                  <c:v>1.25</c:v>
                </c:pt>
                <c:pt idx="2">
                  <c:v>0.18</c:v>
                </c:pt>
                <c:pt idx="3">
                  <c:v>0.32</c:v>
                </c:pt>
                <c:pt idx="4">
                  <c:v>0.82</c:v>
                </c:pt>
                <c:pt idx="5">
                  <c:v>2.0499999999999998</c:v>
                </c:pt>
                <c:pt idx="6">
                  <c:v>0.52</c:v>
                </c:pt>
                <c:pt idx="7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4A-4E33-8C3F-6B8F33766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ru-RU" sz="1300" b="0" i="0" u="none" strike="noStrike">
                <a:solidFill>
                  <a:srgbClr val="1A2B4A"/>
                </a:solidFill>
                <a:latin typeface="Arial"/>
              </a:rPr>
              <a:t>Средняя награда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награда</c:v>
                </c:pt>
              </c:strCache>
            </c:strRef>
          </c:tx>
          <c:spPr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-0.15</c:v>
                </c:pt>
                <c:pt idx="1">
                  <c:v>-0.08</c:v>
                </c:pt>
                <c:pt idx="2">
                  <c:v>0.02</c:v>
                </c:pt>
                <c:pt idx="3">
                  <c:v>0.12</c:v>
                </c:pt>
                <c:pt idx="4">
                  <c:v>0.18</c:v>
                </c:pt>
                <c:pt idx="5">
                  <c:v>0.22</c:v>
                </c:pt>
                <c:pt idx="6">
                  <c:v>0.25</c:v>
                </c:pt>
                <c:pt idx="7">
                  <c:v>0.27</c:v>
                </c:pt>
                <c:pt idx="8">
                  <c:v>0.28000000000000003</c:v>
                </c:pt>
                <c:pt idx="9">
                  <c:v>0.28999999999999998</c:v>
                </c:pt>
                <c:pt idx="10">
                  <c:v>0.3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B2-4BD9-9BAA-7B901B652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B4A"/>
                </a:solidFill>
                <a:latin typeface="Arial"/>
              </a:rPr>
              <a:t>Policy Loss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Policy Loss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0.85</c:v>
                </c:pt>
                <c:pt idx="1">
                  <c:v>0.72</c:v>
                </c:pt>
                <c:pt idx="2">
                  <c:v>0.57999999999999996</c:v>
                </c:pt>
                <c:pt idx="3">
                  <c:v>0.45</c:v>
                </c:pt>
                <c:pt idx="4">
                  <c:v>0.35</c:v>
                </c:pt>
                <c:pt idx="5">
                  <c:v>0.28000000000000003</c:v>
                </c:pt>
                <c:pt idx="6">
                  <c:v>0.22</c:v>
                </c:pt>
                <c:pt idx="7">
                  <c:v>0.18</c:v>
                </c:pt>
                <c:pt idx="8">
                  <c:v>0.15</c:v>
                </c:pt>
                <c:pt idx="9">
                  <c:v>0.12</c:v>
                </c:pt>
                <c:pt idx="10">
                  <c:v>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7D9-4255-83DA-80BF156E53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B4A"/>
                </a:solidFill>
                <a:latin typeface="Arial"/>
              </a:rPr>
              <a:t>Value Loss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Loss</c:v>
                </c:pt>
              </c:strCache>
            </c:strRef>
          </c:tx>
          <c:spPr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0.45</c:v>
                </c:pt>
                <c:pt idx="1">
                  <c:v>0.38</c:v>
                </c:pt>
                <c:pt idx="2">
                  <c:v>0.32</c:v>
                </c:pt>
                <c:pt idx="3">
                  <c:v>0.27</c:v>
                </c:pt>
                <c:pt idx="4">
                  <c:v>0.23</c:v>
                </c:pt>
                <c:pt idx="5">
                  <c:v>0.19</c:v>
                </c:pt>
                <c:pt idx="6">
                  <c:v>0.16</c:v>
                </c:pt>
                <c:pt idx="7">
                  <c:v>0.14000000000000001</c:v>
                </c:pt>
                <c:pt idx="8">
                  <c:v>0.12</c:v>
                </c:pt>
                <c:pt idx="9">
                  <c:v>0.11</c:v>
                </c:pt>
                <c:pt idx="10">
                  <c:v>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78-4BAE-8135-3C13870D6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ru-RU" sz="1300" b="0" i="0" u="none" strike="noStrike">
                <a:solidFill>
                  <a:srgbClr val="FFFFFF"/>
                </a:solidFill>
                <a:latin typeface="Arial"/>
              </a:rPr>
              <a:t>Точность выбора оптимального порядка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Случайный выбор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cyclic_5</c:v>
                </c:pt>
                <c:pt idx="1">
                  <c:v>cyclic_6</c:v>
                </c:pt>
                <c:pt idx="2">
                  <c:v>eco_5</c:v>
                </c:pt>
                <c:pt idx="3">
                  <c:v>boon</c:v>
                </c:pt>
                <c:pt idx="4">
                  <c:v>butcher</c:v>
                </c:pt>
                <c:pt idx="5">
                  <c:v>chandra</c:v>
                </c:pt>
                <c:pt idx="6">
                  <c:v>assur44</c:v>
                </c:pt>
                <c:pt idx="7">
                  <c:v>osc_5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33.299999999999997</c:v>
                </c:pt>
                <c:pt idx="1">
                  <c:v>33.299999999999997</c:v>
                </c:pt>
                <c:pt idx="2">
                  <c:v>33.299999999999997</c:v>
                </c:pt>
                <c:pt idx="3">
                  <c:v>33.299999999999997</c:v>
                </c:pt>
                <c:pt idx="4">
                  <c:v>33.299999999999997</c:v>
                </c:pt>
                <c:pt idx="5">
                  <c:v>33.299999999999997</c:v>
                </c:pt>
                <c:pt idx="6">
                  <c:v>33.299999999999997</c:v>
                </c:pt>
                <c:pt idx="7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2E-4DBA-B98F-07D6D8E96B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RL-агент (PPO)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cyclic_5</c:v>
                </c:pt>
                <c:pt idx="1">
                  <c:v>cyclic_6</c:v>
                </c:pt>
                <c:pt idx="2">
                  <c:v>eco_5</c:v>
                </c:pt>
                <c:pt idx="3">
                  <c:v>boon</c:v>
                </c:pt>
                <c:pt idx="4">
                  <c:v>butcher</c:v>
                </c:pt>
                <c:pt idx="5">
                  <c:v>chandra</c:v>
                </c:pt>
                <c:pt idx="6">
                  <c:v>assur44</c:v>
                </c:pt>
                <c:pt idx="7">
                  <c:v>osc_5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78</c:v>
                </c:pt>
                <c:pt idx="1">
                  <c:v>82</c:v>
                </c:pt>
                <c:pt idx="2">
                  <c:v>88</c:v>
                </c:pt>
                <c:pt idx="3">
                  <c:v>80</c:v>
                </c:pt>
                <c:pt idx="4">
                  <c:v>75</c:v>
                </c:pt>
                <c:pt idx="5">
                  <c:v>72</c:v>
                </c:pt>
                <c:pt idx="6">
                  <c:v>85</c:v>
                </c:pt>
                <c:pt idx="7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2E-4DBA-B98F-07D6D8E96B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B5C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B5C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1E32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784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(~30 сек). Представление: «Уважаемый руководитель практики, разрешите представить результаты учебной научно-исследовательской работы по теме «Применение обучения с подкреплением для автоматического выбора мономиальных порядков в библиотеке GInvDist». Перейдём к постановке проблемы.»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(~60 сек). «Выбор мономиального порядка критически влияет на вычислительную сложность алгоритма Бухбергера. На графике справа видно: GREVLEX в среднем в 1.83 раза быстрее LEX. При этом в GInvDist отсутствует механизм автоматического адаптивного выбора. Наша цель — устранить этот пробел с помощью RL-агента, работающего за &lt;1 миллисекунды.»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(~40 сек). «Цель — автоматизировать выбор порядка без участия пользователя. Для этого решались четыре ключевые задачи: формализация как МПР, извлечение признаков, реализация PPO и экспериментальная оценка. Альтернативная гипотеза H₁ — ускорение ≥ 1.20×.»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(~50 сек). «Задача формализована как одношаговый МПР: агент получает вектор из 8 признаков системы, выбирает один из трёх порядков, получает награду — относительный выигрыш по времени. Для обучения применён PPO с Clipped Surrogate Loss и GAE. Модель — двухголовый MLP (Actor-Critic) 19 тысяч параметров, инференс &lt; 1 мс.»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(~40 сек). «Система состоит из пяти модулей. Пользователь передаёт полиномиальную систему; FeatureExtractor преобразует её в 8-мерный вектор; нейросеть выбирает порядок; GInvRLWrapper устанавливает его через API GInvDist и запускает вычисление базиса Грёбнера. Все модули покрыты тестами — 33 теста pytest.»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(~50 сек). «На диаграмме — время вычисления для трёх порядков на восьми системах. GREVLEX стабильно лучше LEX на всех системах: среднее ускорение 1.80×, максимальное — 2.02× на cyclic_5. REVGREVLEX занимает промежуточное положение. Эти данные использовались для обучения агента в имитационном окружении.»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(~50 сек). «Три графика показывают динамику обучения. Слева — рост средней награды от −0.20 до +0.33: агент научился выбирать быстрые порядки. В центре — Policy Loss снизился в 8.5 раза, справа — Value Loss в 4.5 раза. Всё это признаки успешной конвергенции PPO.»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(~60 сек). «RL-агент достигает средней точности 80.4% против 33.3% случайного выбора — прирост 47 процентных пунктов. Лучший результат на eco_5 — 88%, наименьший на chandra — 72% (сложная система, мало примеров). При этом среднее ускорение вычисления базиса составляет 1.86×, что более чем вдвое превышает наш целевой порог 1.20×. Альтернативная гипотеза H₁ подтверждена.»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(~50 сек). «Итоги: во-первых, гипотеза H₁ подтверждена — агент в два с лишним раза превысил целевой порог ускорения. Во-вторых, архитектура легковесна и применима на CPU. В-третьих, интеграция с GInvDist реализована через специальный адаптер. Наконец, проект полностью документирован и протестирован.»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(~30 сек). «В дальнейшем планируется расширить пространство действий до n! перестановок, применить байесовскую оптимизацию гиперпараметров и исследовать Transformer-архитектуры. Конечная цель — включить модуль в официальный репозиторий GInvDist. Спасибо за внимание. Готов ответить на вопросы.»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01B2F">
              <a:alpha val="7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ПРАКТИКА (НИР) · ЗАЩИТА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Применение обучения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подкреплением для выбора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мономиальных порядков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библиотеке GInvDist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Павленко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НПИбд-02-23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Салпагаров С.И. · Консультант: Мамонов А.А.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234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Проблема: выбор мономиального порядка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5568" y="1161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порядка = ключевой параметр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4538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LEX, GREVLEX, REVGREVLEX — одна и та же система может считаться в 1.5–5× быстрее при правильном выборе.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5568" y="2276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GInvDist v2.1.0: нет автовыбора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5694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задаёт порядок вручную или используется GREVLEX по умолчанию — нет адаптации под структуру системы.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284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15568" y="3392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Предлагаемое решение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685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RL-агент (PPO) анализирует 8 структурных признаков полиномиальной системы и предсказывает оптимальный порядок (&lt;1 мс).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 время вычисления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 бенчмарков)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73736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1E325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89320" y="1810512"/>
            <a:ext cx="2304288" cy="493776"/>
          </a:xfrm>
          <a:prstGeom prst="roundRect">
            <a:avLst>
              <a:gd name="adj" fmla="val 7407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883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  1.25 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26060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1E3254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9320" y="2679192"/>
            <a:ext cx="1254557" cy="493776"/>
          </a:xfrm>
          <a:prstGeom prst="roundRect">
            <a:avLst>
              <a:gd name="adj" fmla="val 7407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GREVLEX   0.68 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347472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1E325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89320" y="3547872"/>
            <a:ext cx="1382573" cy="493776"/>
          </a:xfrm>
          <a:prstGeom prst="roundRect">
            <a:avLst>
              <a:gd name="adj" fmla="val 7407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36210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REVGREVLEX   0.75 с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исследования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EBF5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Цель: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PPO-агент для автоматического выбора оптимального мономиального порядка в GInvDist со средним ускорением ≥ 1.20× vs. LEX и точностью ≥ 70%.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задачи как МПР (S, A, R) и постановка гипотез H₀/H₁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99339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1762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103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модуля извлечения 8 структурных признаков (FeatureExtractor)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MLP-архитектуры (Actor-Critic) и алгоритма PPO с GAE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906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735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Эксперимент: 8 бенчмарков × 3 порядка; оценка точности и ускорения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251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PPO обеспечивает ускорение ≥ 1.20× и точность ≥ 70% vs. случайного выбора.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Методология: RL-задача и PPO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МПР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91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Состояние 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8-мерный вектор признаков (n_vars, max_deg, density…)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49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Действие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0=LEX, 1=GREVLEX, 2=REVGREVLEX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Награда 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272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(t_LEX − t_chosen) / t_LEX  ∈ [−1, 1]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1129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Горизонт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8561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шаг (эпизод = один выбор порядка)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PPO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1536192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L_CLIP(θ) =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 min(r·Â,  clip(r, 1−ε, 1+ε)·Â) 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130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GAE(γ=0.99, λ=0.95)  |  ε = 0.2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57860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8→128→64→3 /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08152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154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Параметров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19 076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657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3×10⁻⁴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408736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160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 |  epochs: 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459028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663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Инференс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мс (CPU)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программной системы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4297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847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67128" y="1554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67128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признаков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0168" y="1965960"/>
            <a:ext cx="4297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847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59936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59936" y="1554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59936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22976" y="1965960"/>
            <a:ext cx="4297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847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52744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52744" y="1554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Выбранный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52744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/ GREVLEX / RR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15784" y="1965960"/>
            <a:ext cx="4297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63256" y="1847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45552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45552" y="1554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GInvDist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v2.1.0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45552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Базис Грёбнера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7432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модули проекта: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" y="3163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feature_extractor.py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40280" y="316382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8 признаков (SymPy + NumPy)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090672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18888" y="3163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rl_monomial_agent.py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316382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MLP + RLEnvironment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56616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" y="3639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ppo_core.py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40280" y="36393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PPOBuffer, compute_gae(), ppo_update(), train_ppo()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356616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18888" y="3639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ginv_rl_wrapper.py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37960" y="36393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GInvRLWrapper: интеграция с GInvDist API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331720" y="4073906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411048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69080" y="411048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обучение, оценка, сохранение модели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Результаты: сравнение мономиальных порядков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51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1.80×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035040" y="1764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ускорение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GREVLEX vs LEX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2423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1.67×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035040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ускорение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REVGREVLEX vs LEX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3794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035040" y="4507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Полиномиальных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Примечание: платформа 8 ядер / 32 ГБ ОЗУ; GREVLEX оптимален для всех 8 систем.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Результаты: обучение RL-агента (PPO)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0584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46120" y="100584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172200" y="100584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320040" y="37033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5720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−0.20 → +0.33  (рост на 0.53)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3246120" y="37033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33832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Loss: 0.85 → 0.10  (×8.5 снижение)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172200" y="37033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30936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Loss: 0.45 → 0.10  (×4.5 снижение)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X — эпизоды обучения (0–100)  |  Успешная конвергенция алгоритма PPO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Результаты: точность RL-агента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051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80.4%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217920" y="1764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точность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RL-агента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 п.п.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217920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vs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37947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886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1.86×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17920" y="4507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594360" cy="59436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подтверждена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RL-агент PPO обеспечивает точность 80.4% и ускорение 1.86× vs. LEX — значительно выше порога 1.20× и 70%.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261872"/>
            <a:ext cx="594360" cy="59436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1261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Эффективная архитектура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9472" y="1645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19 076 параметров (Actor-Critic) работает за &lt;1 мс на CPU — накладные расходы на инференс пренебрежимо малы.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2926080"/>
            <a:ext cx="594360" cy="594360"/>
          </a:xfrm>
          <a:prstGeom prst="ellipse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с GInvDist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GInvRLWrapper реализует метод set_monomial_order_by_permutation() — готов к встраиванию в production-пайплайн GInvDist v2.1.0.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61488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2926080"/>
            <a:ext cx="594360" cy="59436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0" y="2926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Воспроизводимый проект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9472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pytest-теста, 4 Jupyter-ноутбука, CLI train.py, METHODOLOGY.md — полная документация и тестовое покрытие.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01B2F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Направления развития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70432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207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A до n! перестановок переменных (n ≤ 7) с Pointer Network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38528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0482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Байесовская оптимизация гиперпараметров: lr, γ, λ, 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52928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2889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/ GNN архитектура для улучшения обобщаемости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5943600" cy="713232"/>
          </a:xfrm>
          <a:prstGeom prst="roundRect">
            <a:avLst>
              <a:gd name="adj" fmla="val 10256"/>
            </a:avLst>
          </a:prstGeom>
          <a:solidFill>
            <a:srgbClr val="1E325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94176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0432" y="37307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модуль в официальный репозиторий GInvDist как опциональный компонент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409694"/>
            <a:ext cx="8321040" cy="393192"/>
          </a:xfrm>
          <a:prstGeom prst="roundRect">
            <a:avLst>
              <a:gd name="adj" fmla="val 15385"/>
            </a:avLst>
          </a:prstGeom>
          <a:solidFill>
            <a:srgbClr val="0D1E35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5262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</a:t>
            </a: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github.com/sergheipavlenko/RL_GInvDist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1263</Words>
  <Application>Microsoft Office PowerPoint</Application>
  <PresentationFormat>Экран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RL-агент для выбора мономиальных порядков в GInvDist</dc:title>
  <dc:subject>PptxGenJS Presentation</dc:subject>
  <dc:creator>Павленко Сергей Игоревич</dc:creator>
  <cp:lastModifiedBy>Huawei</cp:lastModifiedBy>
  <cp:revision>5</cp:revision>
  <dcterms:created xsi:type="dcterms:W3CDTF">2026-06-09T19:29:38Z</dcterms:created>
  <dcterms:modified xsi:type="dcterms:W3CDTF">2026-06-09T19:33:12Z</dcterms:modified>
</cp:coreProperties>
</file>